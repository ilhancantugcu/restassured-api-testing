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94" d="100"/>
          <a:sy n="94" d="100"/>
        </p:scale>
        <p:origin x="9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030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81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068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319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6024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327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040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7460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935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5561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0932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5094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23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4335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4399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1136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173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482AC1B-07F1-4E95-B803-83B8CA776FF1}" type="datetimeFigureOut">
              <a:rPr lang="tr-TR" smtClean="0"/>
              <a:t>22.05.2026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45F4D-319D-41FD-85F8-D3A4669CD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1894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8B3290-289D-9E2A-33E2-80E768BB9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Yazılım Test Mühendisliği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9BA597F-9FAE-C18E-08F5-6D773380B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İlhan Can Tuğcu - 20360859001</a:t>
            </a:r>
          </a:p>
        </p:txBody>
      </p:sp>
    </p:spTree>
    <p:extLst>
      <p:ext uri="{BB962C8B-B14F-4D97-AF65-F5344CB8AC3E}">
        <p14:creationId xmlns:p14="http://schemas.microsoft.com/office/powerpoint/2010/main" val="3286032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EDC27ED-4019-EF9D-3EE8-D8252821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Yazılım Test Mühendisliği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B70A70-A317-D413-D570-9A838465F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tr-TR" b="1" dirty="0"/>
              <a:t>Yazılım Testi Nedir?</a:t>
            </a:r>
          </a:p>
          <a:p>
            <a:pPr marL="0" indent="0">
              <a:buNone/>
            </a:pPr>
            <a:r>
              <a:rPr lang="tr-TR" dirty="0"/>
              <a:t> Geliştirilen yazılımın, belirlenen gereksinimleri karşılayıp karşılamadığını doğrulama sürecidir.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Temel amaç: Hataları (</a:t>
            </a:r>
            <a:r>
              <a:rPr lang="tr-TR" dirty="0" err="1"/>
              <a:t>bug</a:t>
            </a:r>
            <a:r>
              <a:rPr lang="tr-TR" dirty="0"/>
              <a:t>) kullanıcıya ulaşmadan, en erken ve en az maliyetli aşamada yakalamak.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592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F148D3C-E4FC-0D0A-23E7-E568EE12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Regresyon Testi Nedir 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BA4C22-7579-487B-EA83-FE6F95B7B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tr-TR" altLang="tr-TR" dirty="0">
                <a:latin typeface="Arial" panose="020B0604020202020204" pitchFamily="34" charset="0"/>
              </a:rPr>
              <a:t>Mevcut koda yeni bir özellik eklendiğinde veya bir hata düzeltildiğinde, çalışan eski sistemin bozulmadığından emin olmak için yapılır.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56362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0195BC6-6A54-5DE4-F3E6-B35CF5AB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Neden Regresyon Testlerine İhtiyaç Duyarız?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A3154D-23CC-923B-1F9D-153BA0734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5861" y="804671"/>
            <a:ext cx="6399930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Manuel yapılması çok zaman aldığı için otomasyon (örneğin Rest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Assured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gibi araçlarla) şarttır. Sürekli Entegrasyon ve Dağıtım (CI/CD) süreçlerinin bel kemiğidir.</a:t>
            </a:r>
          </a:p>
        </p:txBody>
      </p:sp>
    </p:spTree>
    <p:extLst>
      <p:ext uri="{BB962C8B-B14F-4D97-AF65-F5344CB8AC3E}">
        <p14:creationId xmlns:p14="http://schemas.microsoft.com/office/powerpoint/2010/main" val="339437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73C0F19-0AF5-34B4-7DD9-EE897926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Yapay Zeka Destekli Yazılım Test Mühendisliği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909BC88-86E8-728C-0BCC-73980F13C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tr-TR" b="1" dirty="0"/>
              <a:t>Geleneksel Test vs. Yapay Zeka Destekli Test</a:t>
            </a:r>
            <a:endParaRPr lang="tr-TR" dirty="0"/>
          </a:p>
          <a:p>
            <a:r>
              <a:rPr lang="tr-TR" dirty="0"/>
              <a:t>Geleneksel otomasyon kural tabanlıdır (kod değiştikçe testin de manuel güncellenmesi gerekir).</a:t>
            </a:r>
          </a:p>
          <a:p>
            <a:r>
              <a:rPr lang="tr-TR" dirty="0"/>
              <a:t>YZ destekli sistemler ise öğrenir, değişen arayüzlere/kodlara adapte olur (Self-</a:t>
            </a:r>
            <a:r>
              <a:rPr lang="tr-TR" dirty="0" err="1"/>
              <a:t>healing</a:t>
            </a:r>
            <a:r>
              <a:rPr lang="tr-TR" dirty="0"/>
              <a:t>).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8754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CFB5C24-ECAD-BA9C-C474-81A02E4E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Yapay Zeka Test Süreçlerinde Nasıl Kullanılır?</a:t>
            </a:r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86EE49-D6B3-246D-9E32-827566EDCF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5861" y="804671"/>
            <a:ext cx="6399930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Test Senaryosu (Case) Üretimi: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LLM'ler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(Büyük Dil Modelleri) analiz dokümanlarını veya API spesifikasyonlarını okuyarak saniyeler içinde binlerce test durumu üretebilir.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Hata Tahmini (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Bug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Prediction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Makine öğrenmesi algoritmaları, geçmiş verilere bakarak kodun hangi modüllerinde hata çıkma olasılığının yüksek olduğunu tahmin eder.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Görsel Hata Tespiti (Visual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Regression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UI testlerinde, insan gözünden kaçabilecek piksel kaymalarını yapay zeka ile anında tespit etme.</a:t>
            </a:r>
          </a:p>
        </p:txBody>
      </p:sp>
    </p:spTree>
    <p:extLst>
      <p:ext uri="{BB962C8B-B14F-4D97-AF65-F5344CB8AC3E}">
        <p14:creationId xmlns:p14="http://schemas.microsoft.com/office/powerpoint/2010/main" val="2644743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E4B7E77-1B0E-9A9B-8C4C-986BB994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sz="3900"/>
              <a:t>Gelecekte Test Mühendisinin Rolü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8D4A6E-3207-AC5C-02C4-599005F09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tr-TR" dirty="0"/>
              <a:t>Yapay Zeka araçları test yazmayı hızlandıracak ancak "neyin test edilmesi gerektiğini" belirleyen analitik düşünce yine test mühendisinde kalacak.</a:t>
            </a:r>
          </a:p>
        </p:txBody>
      </p:sp>
    </p:spTree>
    <p:extLst>
      <p:ext uri="{BB962C8B-B14F-4D97-AF65-F5344CB8AC3E}">
        <p14:creationId xmlns:p14="http://schemas.microsoft.com/office/powerpoint/2010/main" val="214502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612FAFA-7273-49F5-6B69-2D66DCE3F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Proje Mimarisi ve Kullanılan Teknolojiler</a:t>
            </a:r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3CA907-E6F0-DE54-5C90-AC6D089F09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5861" y="804671"/>
            <a:ext cx="6399930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Kullanılan Teknolojiler:</a:t>
            </a:r>
            <a:endParaRPr kumimoji="0" lang="tr-TR" altLang="tr-TR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Programlama Dili: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Java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Test Çerçevesi (Framework):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JUnit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5 (Testlerin organizasyonu ve yaşam döngüsü yönetimi için).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API Test Kütüphanesi: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Rest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Proje Yönetimi: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Maven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Test Edilen Servis (Hedef API):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Testler için online ve ücretsiz bir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fake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REST API olan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JSONPlaceholder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kullanılmıştır</a:t>
            </a:r>
            <a:endParaRPr kumimoji="0" lang="tr-TR" altLang="tr-TR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20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6191E1B-480B-29DE-724E-9E1A725C6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Test Senaryoları (Neleri Doğruladık?)</a:t>
            </a:r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99770F-EC5B-673E-B963-E7038BEFA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5861" y="804671"/>
            <a:ext cx="6399930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Toplamda </a:t>
            </a: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GET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ve </a:t>
            </a: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POST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metotlarını içeren 3 farklı test senaryosu koşulmuştur: </a:t>
            </a:r>
            <a:endParaRPr kumimoji="0" lang="tr-TR" altLang="tr-TR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Tekil Veri Okuma (GET /</a:t>
            </a:r>
            <a:r>
              <a:rPr kumimoji="0" lang="tr-TR" altLang="tr-TR" b="1" i="0" u="none" strike="noStrike" cap="none" normalizeH="0" baseline="0" err="1">
                <a:ln>
                  <a:noFill/>
                </a:ln>
                <a:effectLst/>
                <a:latin typeface="Google Sans Text"/>
              </a:rPr>
              <a:t>posts</a:t>
            </a: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/1):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Belirli bir gönderinin doğru detaylarla gelip gelmediği kontrol edildi.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Çoklu Veri Okuma (GET /</a:t>
            </a:r>
            <a:r>
              <a:rPr kumimoji="0" lang="tr-TR" altLang="tr-TR" b="1" i="0" u="none" strike="noStrike" cap="none" normalizeH="0" baseline="0" err="1">
                <a:ln>
                  <a:noFill/>
                </a:ln>
                <a:effectLst/>
                <a:latin typeface="Google Sans Text"/>
              </a:rPr>
              <a:t>posts</a:t>
            </a: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):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Toplam dönen liste eleman sayısının (100 adet) doğruluğu test edildi.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Veri Oluşturma (POST /</a:t>
            </a:r>
            <a:r>
              <a:rPr kumimoji="0" lang="tr-TR" altLang="tr-TR" b="1" i="0" u="none" strike="noStrike" cap="none" normalizeH="0" baseline="0" err="1">
                <a:ln>
                  <a:noFill/>
                </a:ln>
                <a:effectLst/>
                <a:latin typeface="Google Sans Text"/>
              </a:rPr>
              <a:t>posts</a:t>
            </a: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):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JSON formatında bir </a:t>
            </a:r>
            <a:r>
              <a:rPr kumimoji="0" lang="tr-TR" altLang="tr-TR" b="0" i="1" u="none" strike="noStrike" cap="none" normalizeH="0" baseline="0" err="1">
                <a:ln>
                  <a:noFill/>
                </a:ln>
                <a:effectLst/>
                <a:latin typeface="Google Sans Text"/>
              </a:rPr>
              <a:t>Request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Google Sans Text"/>
              </a:rPr>
              <a:t> Body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gönderilerek yeni kayıt oluşturma işlemi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simüle edildi.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24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C998C3C-8318-F49D-6432-000C002D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Uygulanan Kontroller (</a:t>
            </a:r>
            <a:r>
              <a:rPr lang="tr-TR" dirty="0" err="1"/>
              <a:t>Assertions</a:t>
            </a:r>
            <a:r>
              <a:rPr lang="tr-TR" dirty="0"/>
              <a:t>):</a:t>
            </a:r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87E923-927C-50DC-AF79-53F47C062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5861" y="804671"/>
            <a:ext cx="6399930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Status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Code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Başarılı işlemler için 200 OK ve 201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Created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durum kodları doğrulandı.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Performans: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Her bir isteğin 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3 saniyenin (3000ms) altında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cevap dönmesi garanti altına alındı.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Response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Body: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Dönen cevaplardaki id,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userId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,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title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gibi değerlerin beklenen verilere eşit olup olmadığı ve boş dönüp dönmediği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notNullValue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) kontrol edildi. </a:t>
            </a:r>
            <a:endParaRPr kumimoji="0" lang="tr-TR" altLang="tr-T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772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C7A77C-6029-D9B1-5103-E2148D30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Teşekkürler…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D85954-A0E8-5550-CCDA-80B498679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4057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İy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</TotalTime>
  <Words>452</Words>
  <Application>Microsoft Office PowerPoint</Application>
  <PresentationFormat>Geniş ekran</PresentationFormat>
  <Paragraphs>39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Google Sans Text</vt:lpstr>
      <vt:lpstr>Wingdings 3</vt:lpstr>
      <vt:lpstr>İyon</vt:lpstr>
      <vt:lpstr>Yazılım Test Mühendisliği</vt:lpstr>
      <vt:lpstr>Yazılım Test Mühendisliği </vt:lpstr>
      <vt:lpstr>Regresyon Testi Nedir ?</vt:lpstr>
      <vt:lpstr>Neden Regresyon Testlerine İhtiyaç Duyarız?</vt:lpstr>
      <vt:lpstr>Yapay Zeka Destekli Yazılım Test Mühendisliği</vt:lpstr>
      <vt:lpstr>Yapay Zeka Test Süreçlerinde Nasıl Kullanılır?</vt:lpstr>
      <vt:lpstr>Gelecekte Test Mühendisinin Rolü</vt:lpstr>
      <vt:lpstr>Proje Mimarisi ve Kullanılan Teknolojiler</vt:lpstr>
      <vt:lpstr>Test Senaryoları (Neleri Doğruladık?)</vt:lpstr>
      <vt:lpstr>Uygulanan Kontroller (Assertions):</vt:lpstr>
      <vt:lpstr>Teşekkürler…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ILHAN CAN TUGCU</dc:creator>
  <cp:lastModifiedBy>ILHAN CAN TUGCU</cp:lastModifiedBy>
  <cp:revision>1</cp:revision>
  <dcterms:created xsi:type="dcterms:W3CDTF">2026-05-22T16:04:05Z</dcterms:created>
  <dcterms:modified xsi:type="dcterms:W3CDTF">2026-05-22T17:01:25Z</dcterms:modified>
</cp:coreProperties>
</file>